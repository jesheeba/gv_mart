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Warm open. Sirah Digital is building GV Mart's new Field-Service Management System. This deck lays out the full scope — the vision, not the technical spec.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Today it runs on diary, phone calls and memory. Tomorrow it is one connected, mostly-automatic system — eleven modules working together. Your team keeps the judgement; the system handles the repetitive work.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guided flow from customer search to a clean bill. Installation auto-raises a service ticket. Product and spares always bill separately. Discounts are tiered with a hard ceiling; automatic gift above an admin-set amount.</a:t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Complaints logged in the customer's own words; nature found on the visit. The system decides AMC / Warranty / Paid — staff can never choose Paid by hand. Priority levels, fixed working hours, one open appointment per person, and a job report that logs time.</a:t>
            </a:r>
            <a:endParaRPr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Gold / Silver / Platinum plans, price auto-calculated, RO only. Auto-schedules a visit every three months. AMC visits are free to the customer but spares still reduce stock; any uncovered part must be added before the bill closes. Warranty has scheduled and unscheduled visits.</a:t>
            </a:r>
            <a:endParaRPr/>
          </a:p>
        </p:txBody>
      </p:sp>
      <p:sp>
        <p:nvSpPr>
          <p:cNvPr id="155" name="Google Shape;1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Everything the technician needs, in hand. Tap-to-call is tracked and recorded. Before and after photos are mandatory. A standard time per task turns red if exceeded. Spares by search or Tamil voice, both sign the invoice. New enquiries become the technician's own lead — incentive.</a:t>
            </a:r>
            <a:endParaRPr/>
          </a:p>
        </p:txBody>
      </p:sp>
      <p:sp>
        <p:nvSpPr>
          <p:cNvPr id="193" name="Google Shape;1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Spare bag issued after attendance from the previous day's invoices — admin and technician both sign. Admin-set travel time per km drives a distance-reach indicator: green on time, a red flag for wrong route or idling and for how long. Timer auto-starts on arrival. Ops sees everyone live.</a:t>
            </a:r>
            <a:endParaRPr/>
          </a:p>
        </p:txBody>
      </p:sp>
      <p:sp>
        <p:nvSpPr>
          <p:cNvPr id="232" name="Google Shape;2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Customers enter an address and choose Service, Spare, Product or AMC. Service booking is a guided chat; existing product auto-shows. Product enquiry sends the website or auto videos plus a quotation. AMC self-booking opens only near renewal. Google review link only on top ratings. Admin can edit flows anytime.</a:t>
            </a:r>
            <a:endParaRPr/>
          </a:p>
        </p:txBody>
      </p:sp>
      <p:sp>
        <p:nvSpPr>
          <p:cNvPr id="269" name="Google Shape;2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item has a minimum stock level and a reorder quantity. Low stock triggers an automatic WhatsApp purchase order. Suppliers are linked to products and the order goes to the lowest-cost supplier. Bill entry defaults to the previous bill and supplier.</a:t>
            </a:r>
            <a:endParaRPr/>
          </a:p>
        </p:txBody>
      </p:sp>
      <p:sp>
        <p:nvSpPr>
          <p:cNvPr id="308" name="Google Shape;3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Geo-fenced attendance, only inside the office, plus affirmation, pledge and meeting ticks. Late lock after cutoff; late means a deduction. Revenue-based salary on an admin-set scale. Incentives from extra service income, sales and reviews. Rewards for attendance, reviews and revenue. Reference points for referrals.</a:t>
            </a:r>
            <a:endParaRPr/>
          </a:p>
        </p:txBody>
      </p:sp>
      <p:sp>
        <p:nvSpPr>
          <p:cNvPr id="338" name="Google Shape;33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enquiry — field, app or WhatsApp — is captured as a lead with its source and technician. An AI WhatsApp agent sends the right video by enquiry type. Lead to quotation to sale, with the ratio tracked. A confirmation call before each appointment. WhatsApp automation is compulsory.</a:t>
            </a:r>
            <a:endParaRPr/>
          </a:p>
        </p:txBody>
      </p:sp>
      <p:sp>
        <p:nvSpPr>
          <p:cNvPr id="377" name="Google Shape;3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Sales: call count with product / spare / AMC split as ratios. Service: technician-wise, average value per call. Total revenue including a technician report. A KRA / KPI scoreboard. Expenses across marketing, stationery, salary, petrol. A daily to-do list that carries pending items forward. Ops Admin measured on same-day close; Sales Admin on call ratios.</a:t>
            </a:r>
            <a:endParaRPr/>
          </a:p>
        </p:txBody>
      </p:sp>
      <p:sp>
        <p:nvSpPr>
          <p:cNvPr id="411" name="Google Shape;41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Five stages, delivered in order. Each stage is delivered, checked and approved before the next begins. To start: confirm the two open items — the consumable name and the WhatsApp number — sign off on the scope, and begin Stage 1.</a:t>
            </a:r>
            <a:endParaRPr/>
          </a:p>
        </p:txBody>
      </p:sp>
      <p:sp>
        <p:nvSpPr>
          <p:cNvPr id="451" name="Google Shape;45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11.png"/><Relationship Id="rId13" Type="http://schemas.openxmlformats.org/officeDocument/2006/relationships/image" Target="../media/image17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8.png"/><Relationship Id="rId15" Type="http://schemas.openxmlformats.org/officeDocument/2006/relationships/image" Target="../media/image5.png"/><Relationship Id="rId14" Type="http://schemas.openxmlformats.org/officeDocument/2006/relationships/image" Target="../media/image22.png"/><Relationship Id="rId5" Type="http://schemas.openxmlformats.org/officeDocument/2006/relationships/image" Target="../media/image2.png"/><Relationship Id="rId6" Type="http://schemas.openxmlformats.org/officeDocument/2006/relationships/image" Target="../media/image12.png"/><Relationship Id="rId7" Type="http://schemas.openxmlformats.org/officeDocument/2006/relationships/image" Target="../media/image7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Relationship Id="rId4" Type="http://schemas.openxmlformats.org/officeDocument/2006/relationships/image" Target="../media/image32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7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1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CE4D2"/>
              </a:gs>
              <a:gs pos="62000">
                <a:srgbClr val="FBF6EE"/>
              </a:gs>
              <a:gs pos="100000">
                <a:srgbClr val="FBF6EE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8251" y="1250859"/>
            <a:ext cx="138815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838081" y="1496139"/>
            <a:ext cx="2017836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9C9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A79C90"/>
                </a:solidFill>
                <a:latin typeface="Arial"/>
                <a:ea typeface="Arial"/>
                <a:cs typeface="Arial"/>
                <a:sym typeface="Arial"/>
              </a:rPr>
              <a:t>DELIVERS 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32564" y="1869519"/>
            <a:ext cx="1428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0" name="Google Shape;2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97597" y="1268548"/>
            <a:ext cx="1982153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3"/>
          <p:cNvSpPr/>
          <p:nvPr/>
        </p:nvSpPr>
        <p:spPr>
          <a:xfrm>
            <a:off x="2767013" y="2816305"/>
            <a:ext cx="12753975" cy="14644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874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GV Mart Field-Service Management System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157627" y="4566523"/>
            <a:ext cx="9972747" cy="52673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6591"/>
              </a:lnSpc>
              <a:spcBef>
                <a:spcPts val="0"/>
              </a:spcBef>
              <a:spcAft>
                <a:spcPts val="0"/>
              </a:spcAft>
              <a:buClr>
                <a:srgbClr val="6E655C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6E655C"/>
                </a:solidFill>
                <a:latin typeface="Arial"/>
                <a:ea typeface="Arial"/>
                <a:cs typeface="Arial"/>
                <a:sym typeface="Arial"/>
              </a:rPr>
              <a:t>One system to run Sales, Service, Technicians &amp; Growth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409896" y="5398056"/>
            <a:ext cx="546820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8F82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9A8F82"/>
                </a:solidFill>
                <a:latin typeface="Arial"/>
                <a:ea typeface="Arial"/>
                <a:cs typeface="Arial"/>
                <a:sym typeface="Arial"/>
              </a:rPr>
              <a:t>Prepared for Mr. Ramesh · by Sirah Digital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" name="Google Shape;2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2536" y="6000501"/>
            <a:ext cx="248281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" name="Google Shape;2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01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CE6D6"/>
              </a:gs>
              <a:gs pos="60000">
                <a:srgbClr val="FBF6EE"/>
              </a:gs>
              <a:gs pos="100000">
                <a:srgbClr val="FBF6EE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952500" y="800100"/>
            <a:ext cx="180213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THE BIG PICTURE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52500" y="1249680"/>
            <a:ext cx="14668500" cy="6236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59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From diary and memory to one connected system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52500" y="2044779"/>
            <a:ext cx="12165330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Today GV Mart runs on a diary, phone calls and memory. Tomorrow it runs on one connected, mostly-automatic system — eleven modules, working together.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52500" y="3199209"/>
            <a:ext cx="2592824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20" y="338589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1588770" y="3378280"/>
            <a:ext cx="18923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Sales &amp; Billing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3697724" y="3199209"/>
            <a:ext cx="1753791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3944" y="338589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4333994" y="3378280"/>
            <a:ext cx="957501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603915" y="3199209"/>
            <a:ext cx="2817257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40135" y="338589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4"/>
          <p:cNvSpPr/>
          <p:nvPr/>
        </p:nvSpPr>
        <p:spPr>
          <a:xfrm>
            <a:off x="6240185" y="3378280"/>
            <a:ext cx="213924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AMC &amp; Warranty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8573571" y="3199209"/>
            <a:ext cx="2688788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09792" y="338589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9209842" y="3378280"/>
            <a:ext cx="199792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Technician App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1414760" y="3199209"/>
            <a:ext cx="2455426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50981" y="338589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12051031" y="3378280"/>
            <a:ext cx="174123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Live Tracking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4022586" y="3199209"/>
            <a:ext cx="2569488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258806" y="3385899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4"/>
          <p:cNvSpPr/>
          <p:nvPr/>
        </p:nvSpPr>
        <p:spPr>
          <a:xfrm>
            <a:off x="14658856" y="3378280"/>
            <a:ext cx="186669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Customer App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52500" y="3991689"/>
            <a:ext cx="3418642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88720" y="417838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1588770" y="4170759"/>
            <a:ext cx="2800767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Inventory &amp; Purchase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523542" y="3991689"/>
            <a:ext cx="2482930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59762" y="417838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/>
          <p:nvPr/>
        </p:nvSpPr>
        <p:spPr>
          <a:xfrm>
            <a:off x="5159812" y="4170759"/>
            <a:ext cx="1771483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Staff &amp; Salary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7158871" y="3991689"/>
            <a:ext cx="3532108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395091" y="417838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7795141" y="4170759"/>
            <a:ext cx="29255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WhatsApp Automation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0843379" y="3991689"/>
            <a:ext cx="1588294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" name="Google Shape;65;p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79599" y="417838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/>
          <p:nvPr/>
        </p:nvSpPr>
        <p:spPr>
          <a:xfrm>
            <a:off x="11479649" y="4170759"/>
            <a:ext cx="7920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Leads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2584073" y="3991689"/>
            <a:ext cx="1808202" cy="640080"/>
          </a:xfrm>
          <a:prstGeom prst="roundRect">
            <a:avLst>
              <a:gd fmla="val 2381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171450" rotWithShape="0" algn="bl" dir="5400000" dist="47625">
              <a:srgbClr val="2B2723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820293" y="4178380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13220343" y="4170759"/>
            <a:ext cx="1011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Reports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52500" y="8037195"/>
            <a:ext cx="16383000" cy="992505"/>
          </a:xfrm>
          <a:prstGeom prst="roundRect">
            <a:avLst>
              <a:gd fmla="val 21113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 rot="6381175">
            <a:off x="1287571" y="8297019"/>
            <a:ext cx="472859" cy="472859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4"/>
          <p:cNvSpPr/>
          <p:nvPr/>
        </p:nvSpPr>
        <p:spPr>
          <a:xfrm>
            <a:off x="1924050" y="8322945"/>
            <a:ext cx="12563832" cy="4591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104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Your team handles the </a:t>
            </a:r>
            <a:r>
              <a:rPr b="1" i="0" lang="en-US" sz="255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judgement</a:t>
            </a:r>
            <a:r>
              <a:rPr b="1" i="0" lang="en-US" sz="25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; the system handles the </a:t>
            </a:r>
            <a:r>
              <a:rPr b="1" i="0" lang="en-US" sz="255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repetitive work</a:t>
            </a:r>
            <a:r>
              <a:rPr b="1" i="0" lang="en-US" sz="255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02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952500" y="800100"/>
            <a:ext cx="62865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01 · SALES &amp; BILLING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952500" y="1287780"/>
            <a:ext cx="5886450" cy="1168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Every sale, captured start to finish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952500" y="2666047"/>
            <a:ext cx="5101590" cy="11982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Search the customer, choose the path, and the system guides every step to a clean bill.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52500" y="7905750"/>
            <a:ext cx="1123950" cy="1123950"/>
          </a:xfrm>
          <a:prstGeom prst="roundRect">
            <a:avLst>
              <a:gd fmla="val 23729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81819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/>
          <p:nvPr/>
        </p:nvSpPr>
        <p:spPr>
          <a:xfrm>
            <a:off x="7391400" y="1843683"/>
            <a:ext cx="9944100" cy="1113234"/>
          </a:xfrm>
          <a:prstGeom prst="roundRect">
            <a:avLst>
              <a:gd fmla="val 17112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665720" y="2060853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"/>
          <p:cNvSpPr/>
          <p:nvPr/>
        </p:nvSpPr>
        <p:spPr>
          <a:xfrm>
            <a:off x="7627620" y="2060853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275320" y="2060853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Guided flow: product → brand → model → price → payment → discount → gift → AMC → warranty → installation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7391400" y="312836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7665720" y="334553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7627620" y="334553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8275320" y="3345537"/>
            <a:ext cx="7830753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Installation auto-raises a service ticket — nothing slips through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391400" y="413420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665720" y="435137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"/>
          <p:cNvSpPr/>
          <p:nvPr/>
        </p:nvSpPr>
        <p:spPr>
          <a:xfrm>
            <a:off x="7627620" y="435137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8275320" y="4351377"/>
            <a:ext cx="6148328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Product and spares are always two separate bills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7391400" y="514004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7665720" y="535721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7627620" y="535721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275320" y="5357217"/>
            <a:ext cx="7019270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Tiered discount limits with a hard ceiling staff can't cross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391400" y="614588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7665720" y="6363058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7627620" y="6363058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8275320" y="6363058"/>
            <a:ext cx="7264575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Cash or bank transfer — a transfer needs a transaction ID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7391400" y="715172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665720" y="736889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7627620" y="736889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8275320" y="7368897"/>
            <a:ext cx="8790361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Automatic gift above an admin-set amount, and everything is recorded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1" name="Google Shape;1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03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952500" y="800100"/>
            <a:ext cx="62865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02 · SERVICE MANAGEMENT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952500" y="1287780"/>
            <a:ext cx="5886450" cy="17340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Complaints in, judgement stays with your team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952500" y="3231356"/>
            <a:ext cx="5101590" cy="11982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Complaints are logged in plain words; the system sorts the money, your team keeps the judgement.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52500" y="7905750"/>
            <a:ext cx="1123950" cy="1123950"/>
          </a:xfrm>
          <a:prstGeom prst="roundRect">
            <a:avLst>
              <a:gd fmla="val 23729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81819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/>
          <p:nvPr/>
        </p:nvSpPr>
        <p:spPr>
          <a:xfrm>
            <a:off x="7391400" y="1843683"/>
            <a:ext cx="9944100" cy="1113234"/>
          </a:xfrm>
          <a:prstGeom prst="roundRect">
            <a:avLst>
              <a:gd fmla="val 17112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"/>
          <p:cNvSpPr/>
          <p:nvPr/>
        </p:nvSpPr>
        <p:spPr>
          <a:xfrm>
            <a:off x="7665720" y="2060853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6"/>
          <p:cNvSpPr/>
          <p:nvPr/>
        </p:nvSpPr>
        <p:spPr>
          <a:xfrm>
            <a:off x="7627620" y="2060853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275320" y="2060853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Records product, brand, model, the complaint in the customer's words, and its nature found on the visit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391400" y="312836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665720" y="334553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627620" y="334553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275320" y="3345537"/>
            <a:ext cx="9591104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System decides AMC / Warranty / Paid — staff can never mark Paid by hand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7391400" y="413420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7665720" y="435137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7627620" y="435137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8275320" y="4351377"/>
            <a:ext cx="5235607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Priority levels: very urgent, urgent, normal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391400" y="514004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7665720" y="535721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7627620" y="535721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8275320" y="5357217"/>
            <a:ext cx="4303240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Working hours 9:00 AM – 7:30 PM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7391400" y="614588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7665720" y="6363058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7627620" y="6363058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8275320" y="6363058"/>
            <a:ext cx="4309396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One open appointment per person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391400" y="715172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7665720" y="736889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627620" y="736889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8275320" y="7368897"/>
            <a:ext cx="5094554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Job report logs start, close and total time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04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952500" y="800100"/>
            <a:ext cx="62865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03 · AMC &amp; WARRANTY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52500" y="1287780"/>
            <a:ext cx="5886450" cy="1168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Plans that renew themselves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52500" y="2666047"/>
            <a:ext cx="5101590" cy="11982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Plans that price themselves, schedule their own visits and never lose track of an expiry.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52500" y="7905750"/>
            <a:ext cx="1123950" cy="1123950"/>
          </a:xfrm>
          <a:prstGeom prst="roundRect">
            <a:avLst>
              <a:gd fmla="val 23729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81819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7391400" y="1704261"/>
            <a:ext cx="9944100" cy="1113234"/>
          </a:xfrm>
          <a:prstGeom prst="roundRect">
            <a:avLst>
              <a:gd fmla="val 17112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"/>
          <p:cNvSpPr/>
          <p:nvPr/>
        </p:nvSpPr>
        <p:spPr>
          <a:xfrm>
            <a:off x="7665720" y="1921431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627620" y="1921431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275320" y="1921431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Gold / Silver / Platinum plans for the chosen years, price auto-calculated (RO only)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7391400" y="298894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7"/>
          <p:cNvSpPr/>
          <p:nvPr/>
        </p:nvSpPr>
        <p:spPr>
          <a:xfrm>
            <a:off x="7665720" y="320611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7627620" y="320611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275320" y="3206115"/>
            <a:ext cx="6226517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Auto-schedules a service visit every three months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7391400" y="399478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7665720" y="421195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7627620" y="421195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8275320" y="4211955"/>
            <a:ext cx="8348472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AMC visits are free to the customer — but spares still reduce stock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7391400" y="500062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7665720" y="521779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7627620" y="521779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8275320" y="5217795"/>
            <a:ext cx="7454218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Any uncovered part must be added before the bill can close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7391400" y="6006465"/>
            <a:ext cx="9944100" cy="1113234"/>
          </a:xfrm>
          <a:prstGeom prst="roundRect">
            <a:avLst>
              <a:gd fmla="val 17112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"/>
          <p:cNvSpPr/>
          <p:nvPr/>
        </p:nvSpPr>
        <p:spPr>
          <a:xfrm>
            <a:off x="7665720" y="622363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7627620" y="622363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8275320" y="6223635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Warranty: scheduled visits every three months, plus unscheduled post-sale issues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391400" y="7291150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7665720" y="7508320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7627620" y="750832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8275320" y="7508320"/>
            <a:ext cx="6902970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Purchase date, AMC date and expiry are always visible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7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05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952500" y="800100"/>
            <a:ext cx="62865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04 · TECHNICIAN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952500" y="1287780"/>
            <a:ext cx="5886450" cy="1168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The whole job, in the technician's hand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952500" y="2666047"/>
            <a:ext cx="5101590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Everything a technician needs for the job — and nothing they can skip.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6934200"/>
            <a:ext cx="1189911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/>
          <p:nvPr/>
        </p:nvSpPr>
        <p:spPr>
          <a:xfrm>
            <a:off x="2371011" y="7905750"/>
            <a:ext cx="1123950" cy="1123950"/>
          </a:xfrm>
          <a:prstGeom prst="roundRect">
            <a:avLst>
              <a:gd fmla="val 23729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761" y="8191500"/>
            <a:ext cx="5524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8"/>
          <p:cNvSpPr/>
          <p:nvPr/>
        </p:nvSpPr>
        <p:spPr>
          <a:xfrm>
            <a:off x="7391400" y="1704261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7665720" y="1921431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7627620" y="1921431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8275320" y="1921431"/>
            <a:ext cx="8474988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Search address → name &amp; number, tap-to-call (tracked &amp; recorded)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7391400" y="2710101"/>
            <a:ext cx="9944100" cy="1113234"/>
          </a:xfrm>
          <a:prstGeom prst="roundRect">
            <a:avLst>
              <a:gd fmla="val 17112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665720" y="2927271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7627620" y="2927271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8275320" y="2927271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Job screen shows product, complaint, appointment, history and Paid / Warranty / AMC status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7391400" y="399478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7665720" y="421195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7627620" y="421195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275320" y="4211955"/>
            <a:ext cx="4576048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Before &amp; after photos are mandatory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7391400" y="500062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"/>
          <p:cNvSpPr/>
          <p:nvPr/>
        </p:nvSpPr>
        <p:spPr>
          <a:xfrm>
            <a:off x="7665720" y="521779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7627620" y="521779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275320" y="5217795"/>
            <a:ext cx="6132481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 standard time per task — turns red if exceeded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391400" y="6006465"/>
            <a:ext cx="9944100" cy="1113234"/>
          </a:xfrm>
          <a:prstGeom prst="roundRect">
            <a:avLst>
              <a:gd fmla="val 17112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7665720" y="622363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7627620" y="622363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275320" y="6223635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Spares by search or Tamil voice → invoice → both sides sign, with an RO checklist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7391400" y="7291150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7665720" y="7508320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7627620" y="750832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275320" y="7508320"/>
            <a:ext cx="8058246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 new enquiry is saved as the technician's own lead → incentive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06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"/>
          <p:cNvSpPr/>
          <p:nvPr/>
        </p:nvSpPr>
        <p:spPr>
          <a:xfrm>
            <a:off x="952500" y="800100"/>
            <a:ext cx="62865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05 · LIVE LOCATION TRACKING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52500" y="1287780"/>
            <a:ext cx="5886450" cy="1168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See every technician, live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952500" y="2666047"/>
            <a:ext cx="5101590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The whole field team on one live map, with a clear signal when something's off.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952500" y="3687128"/>
            <a:ext cx="1213009" cy="487680"/>
          </a:xfrm>
          <a:prstGeom prst="roundRect">
            <a:avLst>
              <a:gd fmla="val 50000" name="adj"/>
            </a:avLst>
          </a:prstGeom>
          <a:solidFill>
            <a:srgbClr val="EAF6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1162050" y="3864293"/>
            <a:ext cx="133350" cy="133350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"/>
          <p:cNvSpPr/>
          <p:nvPr/>
        </p:nvSpPr>
        <p:spPr>
          <a:xfrm>
            <a:off x="1409700" y="3801428"/>
            <a:ext cx="622459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3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E7D3A"/>
                </a:solidFill>
                <a:latin typeface="Arial"/>
                <a:ea typeface="Arial"/>
                <a:cs typeface="Arial"/>
                <a:sym typeface="Arial"/>
              </a:rPr>
              <a:t>LIVE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952500" y="7905750"/>
            <a:ext cx="1123950" cy="1123950"/>
          </a:xfrm>
          <a:prstGeom prst="roundRect">
            <a:avLst>
              <a:gd fmla="val 23729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81819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7391400" y="2111931"/>
            <a:ext cx="9944100" cy="1151334"/>
          </a:xfrm>
          <a:prstGeom prst="roundRect">
            <a:avLst>
              <a:gd fmla="val 16546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7665720" y="2348151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7627620" y="2348151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8275320" y="2348151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Spare bag issued after attendance, from the previous day's invoices — admin &amp; technician both sign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391400" y="3434715"/>
            <a:ext cx="9944100" cy="872490"/>
          </a:xfrm>
          <a:prstGeom prst="roundRect">
            <a:avLst>
              <a:gd fmla="val 2183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"/>
          <p:cNvSpPr/>
          <p:nvPr/>
        </p:nvSpPr>
        <p:spPr>
          <a:xfrm>
            <a:off x="7665720" y="367093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9"/>
          <p:cNvSpPr/>
          <p:nvPr/>
        </p:nvSpPr>
        <p:spPr>
          <a:xfrm>
            <a:off x="7627620" y="367093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8275320" y="3670935"/>
            <a:ext cx="8144423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An admin-set travel time per km drives a distance-reach indicator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7391400" y="4478655"/>
            <a:ext cx="9944100" cy="1151334"/>
          </a:xfrm>
          <a:prstGeom prst="roundRect">
            <a:avLst>
              <a:gd fmla="val 16546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7665720" y="471487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7627620" y="471487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8275320" y="4714875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Green when on time; a red flag for wrong route or idling, showing for how long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391400" y="5801439"/>
            <a:ext cx="9944100" cy="872490"/>
          </a:xfrm>
          <a:prstGeom prst="roundRect">
            <a:avLst>
              <a:gd fmla="val 2183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7665720" y="6037659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7627620" y="6037659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8275320" y="6037659"/>
            <a:ext cx="6933879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The timer auto-starts the moment the technician arrives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7391400" y="6845379"/>
            <a:ext cx="9944100" cy="872490"/>
          </a:xfrm>
          <a:prstGeom prst="roundRect">
            <a:avLst>
              <a:gd fmla="val 2183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9"/>
          <p:cNvSpPr/>
          <p:nvPr/>
        </p:nvSpPr>
        <p:spPr>
          <a:xfrm>
            <a:off x="7665720" y="7081600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627620" y="708160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275320" y="7081600"/>
            <a:ext cx="6730484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Operations sees the whole field team on one live map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3" name="Google Shape;26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9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07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952500" y="800100"/>
            <a:ext cx="62865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06 · CUSTOMER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952500" y="1287780"/>
            <a:ext cx="5886450" cy="1168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Customers who help themselves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952500" y="2666047"/>
            <a:ext cx="5101590" cy="11982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Customers can enquire and book themselves — inside the flows you control.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5" name="Google Shape;27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6934200"/>
            <a:ext cx="1191220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0"/>
          <p:cNvSpPr/>
          <p:nvPr/>
        </p:nvSpPr>
        <p:spPr>
          <a:xfrm>
            <a:off x="2372320" y="7905750"/>
            <a:ext cx="1123950" cy="1123950"/>
          </a:xfrm>
          <a:prstGeom prst="roundRect">
            <a:avLst>
              <a:gd fmla="val 23729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48545" y="81819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/>
          <p:nvPr/>
        </p:nvSpPr>
        <p:spPr>
          <a:xfrm>
            <a:off x="7391400" y="1843683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0"/>
          <p:cNvSpPr/>
          <p:nvPr/>
        </p:nvSpPr>
        <p:spPr>
          <a:xfrm>
            <a:off x="7665720" y="2060853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7627620" y="2060853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8275320" y="2060853"/>
            <a:ext cx="7217033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Enter address → Service, Spare, Product or AMC enquiry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7391400" y="2849523"/>
            <a:ext cx="9944100" cy="1113234"/>
          </a:xfrm>
          <a:prstGeom prst="roundRect">
            <a:avLst>
              <a:gd fmla="val 17112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7665720" y="3066693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7627620" y="3066693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8275320" y="3066693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Service booking is a guided chat; existing product shows automatically or is added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7391400" y="413420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7665720" y="435137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7627620" y="435137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8275320" y="4351377"/>
            <a:ext cx="7391090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Product enquiry → website or auto videos, plus a quotation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7391400" y="514004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7665720" y="535721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7627620" y="535721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8275320" y="5357217"/>
            <a:ext cx="5393686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AMC self-booking opens only near renewal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7391400" y="614588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7665720" y="6363058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7627620" y="6363058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8275320" y="6363058"/>
            <a:ext cx="5802702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Google review link appears only on top ratings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7391400" y="7151727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7665720" y="736889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0"/>
          <p:cNvSpPr/>
          <p:nvPr/>
        </p:nvSpPr>
        <p:spPr>
          <a:xfrm>
            <a:off x="7627620" y="736889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8275320" y="7368897"/>
            <a:ext cx="4292501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Admin can edit every flow anytime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0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08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952500" y="800100"/>
            <a:ext cx="62865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07 · INVENTORY &amp; PURCHASE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952500" y="1287780"/>
            <a:ext cx="6286500" cy="6034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Stock that reorders itself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952500" y="2100739"/>
            <a:ext cx="5101590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Stock levels watch themselves and raise the purchase order for you.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952500" y="7905750"/>
            <a:ext cx="1123950" cy="1123950"/>
          </a:xfrm>
          <a:prstGeom prst="roundRect">
            <a:avLst>
              <a:gd fmla="val 23729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81819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1"/>
          <p:cNvSpPr/>
          <p:nvPr/>
        </p:nvSpPr>
        <p:spPr>
          <a:xfrm>
            <a:off x="7391400" y="2731770"/>
            <a:ext cx="9944100" cy="948690"/>
          </a:xfrm>
          <a:prstGeom prst="roundRect">
            <a:avLst>
              <a:gd fmla="val 2008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7684770" y="3006090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7646670" y="300609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8294370" y="3006090"/>
            <a:ext cx="8266486" cy="3900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Every item carries a minimum stock level and a reorder quantity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7391400" y="3870960"/>
            <a:ext cx="9944100" cy="948690"/>
          </a:xfrm>
          <a:prstGeom prst="roundRect">
            <a:avLst>
              <a:gd fmla="val 2008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7684770" y="4145280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7646670" y="414528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8294370" y="4145280"/>
            <a:ext cx="7615047" cy="3900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Low stock triggers an automatic WhatsApp purchase order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7391400" y="5010150"/>
            <a:ext cx="9944100" cy="948690"/>
          </a:xfrm>
          <a:prstGeom prst="roundRect">
            <a:avLst>
              <a:gd fmla="val 2008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7684770" y="5284470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7646670" y="528447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8294370" y="5284470"/>
            <a:ext cx="9132058" cy="3900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Suppliers linked to products; the order goes to the lowest-cost supplier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7391400" y="6149340"/>
            <a:ext cx="9944100" cy="948690"/>
          </a:xfrm>
          <a:prstGeom prst="roundRect">
            <a:avLst>
              <a:gd fmla="val 20080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7684770" y="6423660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1"/>
          <p:cNvSpPr/>
          <p:nvPr/>
        </p:nvSpPr>
        <p:spPr>
          <a:xfrm>
            <a:off x="7646670" y="642366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8294370" y="6423660"/>
            <a:ext cx="6359974" cy="39004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100"/>
              <a:buFont typeface="Arial"/>
              <a:buNone/>
            </a:pPr>
            <a:r>
              <a:rPr b="0" i="0" lang="en-US" sz="21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Bill entry defaults to the previous bill and supplier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09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2"/>
          <p:cNvSpPr/>
          <p:nvPr/>
        </p:nvSpPr>
        <p:spPr>
          <a:xfrm>
            <a:off x="952500" y="800100"/>
            <a:ext cx="62865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08 · STAFF, SALARY &amp; REWARDS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952500" y="1287780"/>
            <a:ext cx="5886450" cy="1168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People, pay and motivation in one place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952500" y="2666047"/>
            <a:ext cx="5101590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Attendance, salary and motivation, all on one admin-set scale.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6934200"/>
            <a:ext cx="1922026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2"/>
          <p:cNvSpPr/>
          <p:nvPr/>
        </p:nvSpPr>
        <p:spPr>
          <a:xfrm>
            <a:off x="3103126" y="7905750"/>
            <a:ext cx="1123950" cy="1123950"/>
          </a:xfrm>
          <a:prstGeom prst="roundRect">
            <a:avLst>
              <a:gd fmla="val 23729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6" name="Google Shape;34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9351" y="81819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2"/>
          <p:cNvSpPr/>
          <p:nvPr/>
        </p:nvSpPr>
        <p:spPr>
          <a:xfrm>
            <a:off x="7391400" y="1704261"/>
            <a:ext cx="9944100" cy="1113234"/>
          </a:xfrm>
          <a:prstGeom prst="roundRect">
            <a:avLst>
              <a:gd fmla="val 17112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2"/>
          <p:cNvSpPr/>
          <p:nvPr/>
        </p:nvSpPr>
        <p:spPr>
          <a:xfrm>
            <a:off x="7665720" y="1921431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"/>
          <p:cNvSpPr/>
          <p:nvPr/>
        </p:nvSpPr>
        <p:spPr>
          <a:xfrm>
            <a:off x="7627620" y="1921431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8275320" y="1921431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Geo-fenced attendance — only inside the office — plus affirmation, pledge &amp; meeting ticks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7391400" y="298894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2"/>
          <p:cNvSpPr/>
          <p:nvPr/>
        </p:nvSpPr>
        <p:spPr>
          <a:xfrm>
            <a:off x="7665720" y="320611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/>
          <p:nvPr/>
        </p:nvSpPr>
        <p:spPr>
          <a:xfrm>
            <a:off x="7627620" y="320611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8275320" y="3206115"/>
            <a:ext cx="6096595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Late lock after the cutoff; late means a deduction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7391400" y="399478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7665720" y="421195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2"/>
          <p:cNvSpPr/>
          <p:nvPr/>
        </p:nvSpPr>
        <p:spPr>
          <a:xfrm>
            <a:off x="7627620" y="421195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8275320" y="4211955"/>
            <a:ext cx="5676840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Revenue-based salary on an admin-set scale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7391400" y="500062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2"/>
          <p:cNvSpPr/>
          <p:nvPr/>
        </p:nvSpPr>
        <p:spPr>
          <a:xfrm>
            <a:off x="7665720" y="521779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7627620" y="521779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8275320" y="5217795"/>
            <a:ext cx="7987129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Incentives from extra service income, sales income and reviews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7391400" y="6006465"/>
            <a:ext cx="9944100" cy="1113234"/>
          </a:xfrm>
          <a:prstGeom prst="roundRect">
            <a:avLst>
              <a:gd fmla="val 17112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7665720" y="622363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2"/>
          <p:cNvSpPr/>
          <p:nvPr/>
        </p:nvSpPr>
        <p:spPr>
          <a:xfrm>
            <a:off x="7627620" y="622363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8275320" y="6223635"/>
            <a:ext cx="9049436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Rewards for on-time attendance, top reviews and highest revenue (admin-logged)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7391400" y="7291150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7665720" y="7508320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7627620" y="7508320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8275320" y="7508320"/>
            <a:ext cx="4905566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Reference points for customer referrals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1" name="Google Shape;371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2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2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10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3"/>
          <p:cNvSpPr/>
          <p:nvPr/>
        </p:nvSpPr>
        <p:spPr>
          <a:xfrm>
            <a:off x="952500" y="800100"/>
            <a:ext cx="62865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09 · WHATSAPP AUTOMATION &amp; LEADS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952500" y="1287780"/>
            <a:ext cx="5886450" cy="1168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No enquiry ever slips away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3"/>
          <p:cNvSpPr/>
          <p:nvPr/>
        </p:nvSpPr>
        <p:spPr>
          <a:xfrm>
            <a:off x="952500" y="2666047"/>
            <a:ext cx="5101590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Every enquiry becomes a tracked lead, and WhatsApp does the follow-up.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952500" y="7905750"/>
            <a:ext cx="1123950" cy="1123950"/>
          </a:xfrm>
          <a:prstGeom prst="roundRect">
            <a:avLst>
              <a:gd fmla="val 23729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4" name="Google Shape;3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8250" y="8191500"/>
            <a:ext cx="552450" cy="55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3"/>
          <p:cNvSpPr/>
          <p:nvPr/>
        </p:nvSpPr>
        <p:spPr>
          <a:xfrm>
            <a:off x="7391400" y="2213253"/>
            <a:ext cx="9944100" cy="1151334"/>
          </a:xfrm>
          <a:prstGeom prst="roundRect">
            <a:avLst>
              <a:gd fmla="val 16546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3"/>
          <p:cNvSpPr/>
          <p:nvPr/>
        </p:nvSpPr>
        <p:spPr>
          <a:xfrm>
            <a:off x="7684770" y="2449473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3"/>
          <p:cNvSpPr/>
          <p:nvPr/>
        </p:nvSpPr>
        <p:spPr>
          <a:xfrm>
            <a:off x="7646670" y="2449473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3"/>
          <p:cNvSpPr/>
          <p:nvPr/>
        </p:nvSpPr>
        <p:spPr>
          <a:xfrm>
            <a:off x="8294370" y="2449473"/>
            <a:ext cx="9010193" cy="7169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Every enquiry — field, app or WhatsApp — captured as a lead with its source &amp; technician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3"/>
          <p:cNvSpPr/>
          <p:nvPr/>
        </p:nvSpPr>
        <p:spPr>
          <a:xfrm>
            <a:off x="7391400" y="3555087"/>
            <a:ext cx="9944100" cy="872490"/>
          </a:xfrm>
          <a:prstGeom prst="roundRect">
            <a:avLst>
              <a:gd fmla="val 2183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3"/>
          <p:cNvSpPr/>
          <p:nvPr/>
        </p:nvSpPr>
        <p:spPr>
          <a:xfrm>
            <a:off x="7684770" y="379130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3"/>
          <p:cNvSpPr/>
          <p:nvPr/>
        </p:nvSpPr>
        <p:spPr>
          <a:xfrm>
            <a:off x="7646670" y="379130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8294370" y="3791307"/>
            <a:ext cx="8256139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An AI WhatsApp agent sends the right video for each enquiry type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3"/>
          <p:cNvSpPr/>
          <p:nvPr/>
        </p:nvSpPr>
        <p:spPr>
          <a:xfrm>
            <a:off x="7391400" y="4618077"/>
            <a:ext cx="9944100" cy="872490"/>
          </a:xfrm>
          <a:prstGeom prst="roundRect">
            <a:avLst>
              <a:gd fmla="val 2183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3"/>
          <p:cNvSpPr/>
          <p:nvPr/>
        </p:nvSpPr>
        <p:spPr>
          <a:xfrm>
            <a:off x="7684770" y="485429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7646670" y="485429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8294370" y="4854297"/>
            <a:ext cx="7406545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Lead → quotation → sale, with the conversion ratio tracked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7391400" y="5681067"/>
            <a:ext cx="9944100" cy="872490"/>
          </a:xfrm>
          <a:prstGeom prst="roundRect">
            <a:avLst>
              <a:gd fmla="val 2183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7684770" y="591728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7646670" y="591728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3"/>
          <p:cNvSpPr/>
          <p:nvPr/>
        </p:nvSpPr>
        <p:spPr>
          <a:xfrm>
            <a:off x="8294370" y="5917287"/>
            <a:ext cx="5582412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 confirmation call before every appointment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7391400" y="6744058"/>
            <a:ext cx="9944100" cy="872490"/>
          </a:xfrm>
          <a:prstGeom prst="roundRect">
            <a:avLst>
              <a:gd fmla="val 2183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7684770" y="6980277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"/>
          <p:cNvSpPr/>
          <p:nvPr/>
        </p:nvSpPr>
        <p:spPr>
          <a:xfrm>
            <a:off x="7646670" y="6980277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3"/>
          <p:cNvSpPr/>
          <p:nvPr/>
        </p:nvSpPr>
        <p:spPr>
          <a:xfrm>
            <a:off x="8294370" y="6980277"/>
            <a:ext cx="5582674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WhatsApp automation is built in, not optional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5" name="Google Shape;4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3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3"/>
          <p:cNvSpPr/>
          <p:nvPr/>
        </p:nvSpPr>
        <p:spPr>
          <a:xfrm>
            <a:off x="16648986" y="9576435"/>
            <a:ext cx="762714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11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BF6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4"/>
          <p:cNvSpPr/>
          <p:nvPr/>
        </p:nvSpPr>
        <p:spPr>
          <a:xfrm>
            <a:off x="952500" y="800100"/>
            <a:ext cx="62865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10 · REPORTS &amp; DASHBOARDS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952500" y="1287780"/>
            <a:ext cx="5886450" cy="1168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The whole business at a glance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952500" y="2666047"/>
            <a:ext cx="5101590" cy="8115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2175"/>
              <a:buFont typeface="Arial"/>
              <a:buNone/>
            </a:pPr>
            <a:r>
              <a:rPr b="0" i="0" lang="en-US" sz="2175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One place to see sales, service, revenue and people — clearly.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952500" y="3725228"/>
            <a:ext cx="5715000" cy="1036320"/>
          </a:xfrm>
          <a:prstGeom prst="roundRect">
            <a:avLst>
              <a:gd fmla="val 16544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4"/>
          <p:cNvSpPr/>
          <p:nvPr/>
        </p:nvSpPr>
        <p:spPr>
          <a:xfrm>
            <a:off x="1200150" y="3934778"/>
            <a:ext cx="5376291" cy="6553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9118"/>
              </a:lnSpc>
              <a:spcBef>
                <a:spcPts val="0"/>
              </a:spcBef>
              <a:spcAft>
                <a:spcPts val="0"/>
              </a:spcAft>
              <a:buClr>
                <a:srgbClr val="8A5A3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A5A3C"/>
                </a:solidFill>
                <a:latin typeface="Arial"/>
                <a:ea typeface="Arial"/>
                <a:cs typeface="Arial"/>
                <a:sym typeface="Arial"/>
              </a:rPr>
              <a:t>Ops Admin is measured on same-day close; Sales Admin on call ratios.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952500" y="7905750"/>
            <a:ext cx="1123950" cy="1123950"/>
          </a:xfrm>
          <a:prstGeom prst="roundRect">
            <a:avLst>
              <a:gd fmla="val 23729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0" name="Google Shape;4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8725" y="8181975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4"/>
          <p:cNvSpPr/>
          <p:nvPr/>
        </p:nvSpPr>
        <p:spPr>
          <a:xfrm>
            <a:off x="7391400" y="198310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4"/>
          <p:cNvSpPr/>
          <p:nvPr/>
        </p:nvSpPr>
        <p:spPr>
          <a:xfrm>
            <a:off x="7665720" y="220027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4"/>
          <p:cNvSpPr/>
          <p:nvPr/>
        </p:nvSpPr>
        <p:spPr>
          <a:xfrm>
            <a:off x="7627620" y="220027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4"/>
          <p:cNvSpPr/>
          <p:nvPr/>
        </p:nvSpPr>
        <p:spPr>
          <a:xfrm>
            <a:off x="8275320" y="2200275"/>
            <a:ext cx="8553700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Sales: call count with the product / spare / AMC split shown as ratios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7391400" y="298894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4"/>
          <p:cNvSpPr/>
          <p:nvPr/>
        </p:nvSpPr>
        <p:spPr>
          <a:xfrm>
            <a:off x="7665720" y="320611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4"/>
          <p:cNvSpPr/>
          <p:nvPr/>
        </p:nvSpPr>
        <p:spPr>
          <a:xfrm>
            <a:off x="7627620" y="320611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8275320" y="3206115"/>
            <a:ext cx="6541103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Service: technician-wise, with average value per call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7391400" y="399478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4"/>
          <p:cNvSpPr/>
          <p:nvPr/>
        </p:nvSpPr>
        <p:spPr>
          <a:xfrm>
            <a:off x="7665720" y="421195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7627620" y="421195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8275320" y="4211955"/>
            <a:ext cx="5818549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Total revenue, including a full technician report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7391400" y="500062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7665720" y="521779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4"/>
          <p:cNvSpPr/>
          <p:nvPr/>
        </p:nvSpPr>
        <p:spPr>
          <a:xfrm>
            <a:off x="7627620" y="521779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8275320" y="5217795"/>
            <a:ext cx="3506558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 live KRA / KPI scoreboard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7391400" y="600646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4"/>
          <p:cNvSpPr/>
          <p:nvPr/>
        </p:nvSpPr>
        <p:spPr>
          <a:xfrm>
            <a:off x="7665720" y="622363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4"/>
          <p:cNvSpPr/>
          <p:nvPr/>
        </p:nvSpPr>
        <p:spPr>
          <a:xfrm>
            <a:off x="7627620" y="622363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8275320" y="6223635"/>
            <a:ext cx="8092428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Expenses tracked across marketing, stationery, salary and petrol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7391400" y="7012305"/>
            <a:ext cx="9944100" cy="834390"/>
          </a:xfrm>
          <a:prstGeom prst="roundRect">
            <a:avLst>
              <a:gd fmla="val 22831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4"/>
          <p:cNvSpPr/>
          <p:nvPr/>
        </p:nvSpPr>
        <p:spPr>
          <a:xfrm>
            <a:off x="7665720" y="7229475"/>
            <a:ext cx="400050" cy="400050"/>
          </a:xfrm>
          <a:prstGeom prst="ellipse">
            <a:avLst/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4"/>
          <p:cNvSpPr/>
          <p:nvPr/>
        </p:nvSpPr>
        <p:spPr>
          <a:xfrm>
            <a:off x="7627620" y="7229475"/>
            <a:ext cx="4762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8275320" y="7229475"/>
            <a:ext cx="6320945" cy="37754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231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 daily to-do list that carries pending items forward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45" name="Google Shape;44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14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12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6EE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FCE6D6"/>
              </a:gs>
              <a:gs pos="60000">
                <a:srgbClr val="FBF6EE"/>
              </a:gs>
              <a:gs pos="100000">
                <a:srgbClr val="FBF6EE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952500" y="800100"/>
            <a:ext cx="1802130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A21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6A21"/>
                </a:solidFill>
                <a:latin typeface="Arial"/>
                <a:ea typeface="Arial"/>
                <a:cs typeface="Arial"/>
                <a:sym typeface="Arial"/>
              </a:rPr>
              <a:t>HOW WE'LL BUILD 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5"/>
          <p:cNvSpPr/>
          <p:nvPr/>
        </p:nvSpPr>
        <p:spPr>
          <a:xfrm>
            <a:off x="952500" y="1230630"/>
            <a:ext cx="18021300" cy="6034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750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Five stages — each delivered, checked and approved before the next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/>
          <p:nvPr/>
        </p:nvSpPr>
        <p:spPr>
          <a:xfrm>
            <a:off x="952500" y="2215039"/>
            <a:ext cx="2773680" cy="2651046"/>
          </a:xfrm>
          <a:prstGeom prst="roundRect">
            <a:avLst>
              <a:gd fmla="val 790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1207770" y="2508409"/>
            <a:ext cx="571500" cy="571500"/>
          </a:xfrm>
          <a:prstGeom prst="ellipse">
            <a:avLst/>
          </a:prstGeom>
          <a:solidFill>
            <a:srgbClr val="F26A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1169670" y="2508409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1207770" y="3232309"/>
            <a:ext cx="2489454" cy="3209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92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1207770" y="3667601"/>
            <a:ext cx="2339340" cy="641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71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Core sales, billing, service &amp; inventory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1" name="Google Shape;4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6680" y="3359587"/>
            <a:ext cx="2476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5"/>
          <p:cNvSpPr/>
          <p:nvPr/>
        </p:nvSpPr>
        <p:spPr>
          <a:xfrm>
            <a:off x="4354830" y="2215039"/>
            <a:ext cx="2773680" cy="2651046"/>
          </a:xfrm>
          <a:prstGeom prst="roundRect">
            <a:avLst>
              <a:gd fmla="val 790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4610100" y="2508409"/>
            <a:ext cx="571500" cy="571500"/>
          </a:xfrm>
          <a:prstGeom prst="ellipse">
            <a:avLst/>
          </a:prstGeom>
          <a:solidFill>
            <a:srgbClr val="F26A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4572000" y="2508409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5"/>
          <p:cNvSpPr/>
          <p:nvPr/>
        </p:nvSpPr>
        <p:spPr>
          <a:xfrm>
            <a:off x="4610100" y="3232309"/>
            <a:ext cx="2489454" cy="3209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92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In the Field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4610100" y="3667601"/>
            <a:ext cx="2339340" cy="641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71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Technician app + live tracking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7" name="Google Shape;4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9010" y="3359587"/>
            <a:ext cx="2476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5"/>
          <p:cNvSpPr/>
          <p:nvPr/>
        </p:nvSpPr>
        <p:spPr>
          <a:xfrm>
            <a:off x="7757160" y="2215039"/>
            <a:ext cx="2773680" cy="2651046"/>
          </a:xfrm>
          <a:prstGeom prst="roundRect">
            <a:avLst>
              <a:gd fmla="val 790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8012430" y="2508409"/>
            <a:ext cx="571500" cy="571500"/>
          </a:xfrm>
          <a:prstGeom prst="ellipse">
            <a:avLst/>
          </a:prstGeom>
          <a:solidFill>
            <a:srgbClr val="F26A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7974330" y="2508409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5"/>
          <p:cNvSpPr/>
          <p:nvPr/>
        </p:nvSpPr>
        <p:spPr>
          <a:xfrm>
            <a:off x="8012430" y="3232309"/>
            <a:ext cx="2489454" cy="3209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92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8012430" y="3667601"/>
            <a:ext cx="2339340" cy="943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71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AMC / Warranty automation + customer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3" name="Google Shape;4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21340" y="3359587"/>
            <a:ext cx="2476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15"/>
          <p:cNvSpPr/>
          <p:nvPr/>
        </p:nvSpPr>
        <p:spPr>
          <a:xfrm>
            <a:off x="11159490" y="2215039"/>
            <a:ext cx="2773680" cy="2651046"/>
          </a:xfrm>
          <a:prstGeom prst="roundRect">
            <a:avLst>
              <a:gd fmla="val 790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11414760" y="2508409"/>
            <a:ext cx="571500" cy="571500"/>
          </a:xfrm>
          <a:prstGeom prst="ellipse">
            <a:avLst/>
          </a:prstGeom>
          <a:solidFill>
            <a:srgbClr val="F26A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11376660" y="2508409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5"/>
          <p:cNvSpPr/>
          <p:nvPr/>
        </p:nvSpPr>
        <p:spPr>
          <a:xfrm>
            <a:off x="11414760" y="3232309"/>
            <a:ext cx="2489454" cy="3209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92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People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11414760" y="3667601"/>
            <a:ext cx="2339340" cy="6415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71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Salary, incentives &amp; rewards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9" name="Google Shape;4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23670" y="3359587"/>
            <a:ext cx="2476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15"/>
          <p:cNvSpPr/>
          <p:nvPr/>
        </p:nvSpPr>
        <p:spPr>
          <a:xfrm>
            <a:off x="14561820" y="2215039"/>
            <a:ext cx="2773680" cy="2651046"/>
          </a:xfrm>
          <a:prstGeom prst="roundRect">
            <a:avLst>
              <a:gd fmla="val 7904" name="adj"/>
            </a:avLst>
          </a:prstGeom>
          <a:solidFill>
            <a:srgbClr val="FFFFFF"/>
          </a:solidFill>
          <a:ln cap="flat" cmpd="sng" w="9525">
            <a:solidFill>
              <a:srgbClr val="F0E7DB"/>
            </a:solidFill>
            <a:prstDash val="solid"/>
            <a:round/>
            <a:headEnd len="sm" w="sm" type="none"/>
            <a:tailEnd len="sm" w="sm" type="none"/>
          </a:ln>
          <a:effectLst>
            <a:outerShdw blurRad="209550" rotWithShape="0" algn="bl" dir="5400000" dist="57150">
              <a:srgbClr val="2B2723">
                <a:alpha val="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14817090" y="2508409"/>
            <a:ext cx="571500" cy="571500"/>
          </a:xfrm>
          <a:prstGeom prst="ellipse">
            <a:avLst/>
          </a:prstGeom>
          <a:solidFill>
            <a:srgbClr val="F26A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14778990" y="2508409"/>
            <a:ext cx="64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5"/>
          <p:cNvSpPr/>
          <p:nvPr/>
        </p:nvSpPr>
        <p:spPr>
          <a:xfrm>
            <a:off x="14817090" y="3232309"/>
            <a:ext cx="2489454" cy="3209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5192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Growth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14817090" y="3667601"/>
            <a:ext cx="2339340" cy="9432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471"/>
              </a:lnSpc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WhatsApp automation, auto POs &amp; full reports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5"/>
          <p:cNvSpPr/>
          <p:nvPr/>
        </p:nvSpPr>
        <p:spPr>
          <a:xfrm>
            <a:off x="133350" y="5170884"/>
            <a:ext cx="180213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7269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7C7269"/>
                </a:solidFill>
                <a:latin typeface="Arial"/>
                <a:ea typeface="Arial"/>
                <a:cs typeface="Arial"/>
                <a:sym typeface="Arial"/>
              </a:rPr>
              <a:t>Each stage is delivered, checked and approved before the next begins.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5"/>
          <p:cNvSpPr/>
          <p:nvPr/>
        </p:nvSpPr>
        <p:spPr>
          <a:xfrm>
            <a:off x="952500" y="7296150"/>
            <a:ext cx="16383000" cy="1771650"/>
          </a:xfrm>
          <a:prstGeom prst="roundRect">
            <a:avLst>
              <a:gd fmla="val 12903" name="adj"/>
            </a:avLst>
          </a:prstGeom>
          <a:solidFill>
            <a:srgbClr val="FBE8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1314450" y="8041005"/>
            <a:ext cx="1795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531A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D9531A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3270409" y="7581900"/>
            <a:ext cx="4466034" cy="1200150"/>
          </a:xfrm>
          <a:prstGeom prst="roundRect">
            <a:avLst>
              <a:gd fmla="val 1269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9" name="Google Shape;48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9959" y="80581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15"/>
          <p:cNvSpPr/>
          <p:nvPr/>
        </p:nvSpPr>
        <p:spPr>
          <a:xfrm>
            <a:off x="3860959" y="7753350"/>
            <a:ext cx="3775912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Confirm the two open items — the consumable name &amp; WhatsApp number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5"/>
          <p:cNvSpPr/>
          <p:nvPr/>
        </p:nvSpPr>
        <p:spPr>
          <a:xfrm>
            <a:off x="7888843" y="7581900"/>
            <a:ext cx="4466154" cy="1200150"/>
          </a:xfrm>
          <a:prstGeom prst="roundRect">
            <a:avLst>
              <a:gd fmla="val 1269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2" name="Google Shape;49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8393" y="80581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15"/>
          <p:cNvSpPr/>
          <p:nvPr/>
        </p:nvSpPr>
        <p:spPr>
          <a:xfrm>
            <a:off x="8479393" y="8039100"/>
            <a:ext cx="25565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Sign off on the 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5"/>
          <p:cNvSpPr/>
          <p:nvPr/>
        </p:nvSpPr>
        <p:spPr>
          <a:xfrm>
            <a:off x="12507397" y="7581900"/>
            <a:ext cx="4466154" cy="1200150"/>
          </a:xfrm>
          <a:prstGeom prst="roundRect">
            <a:avLst>
              <a:gd fmla="val 12698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5" name="Google Shape;4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6947" y="8058150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5"/>
          <p:cNvSpPr/>
          <p:nvPr/>
        </p:nvSpPr>
        <p:spPr>
          <a:xfrm>
            <a:off x="13097947" y="8039100"/>
            <a:ext cx="16629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94"/>
              </a:lnSpc>
              <a:spcBef>
                <a:spcPts val="0"/>
              </a:spcBef>
              <a:spcAft>
                <a:spcPts val="0"/>
              </a:spcAft>
              <a:buClr>
                <a:srgbClr val="2B2723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B2723"/>
                </a:solidFill>
                <a:latin typeface="Arial"/>
                <a:ea typeface="Arial"/>
                <a:cs typeface="Arial"/>
                <a:sym typeface="Arial"/>
              </a:rPr>
              <a:t>Begin Stage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7" name="Google Shape;49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9563100"/>
            <a:ext cx="550545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15"/>
          <p:cNvSpPr/>
          <p:nvPr/>
        </p:nvSpPr>
        <p:spPr>
          <a:xfrm>
            <a:off x="1655445" y="9576435"/>
            <a:ext cx="6931260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AC9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7AC9F"/>
                </a:solidFill>
                <a:latin typeface="Arial"/>
                <a:ea typeface="Arial"/>
                <a:cs typeface="Arial"/>
                <a:sym typeface="Arial"/>
              </a:rPr>
              <a:t>GV Mart · Field-Service Management System · Sirah Digital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16636365" y="9576435"/>
            <a:ext cx="775335" cy="297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BFB2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CBBFB2"/>
                </a:solidFill>
                <a:latin typeface="Arial"/>
                <a:ea typeface="Arial"/>
                <a:cs typeface="Arial"/>
                <a:sym typeface="Arial"/>
              </a:rPr>
              <a:t>13 /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